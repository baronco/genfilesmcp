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Ventas (miles USD)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320.0</c:v>
                </c:pt>
                <c:pt idx="1">
                  <c:v>410.0</c:v>
                </c:pt>
                <c:pt idx="2">
                  <c:v>480.0</c:v>
                </c:pt>
                <c:pt idx="3">
                  <c:v>560.0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Participación por canal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Web</c:v>
                </c:pt>
                <c:pt idx="1">
                  <c:v>Móvil</c:v>
                </c:pt>
                <c:pt idx="2">
                  <c:v>Tienda física</c:v>
                </c:pt>
                <c:pt idx="3">
                  <c:v>Aliados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42.0</c:v>
                </c:pt>
                <c:pt idx="1">
                  <c:v>28.0</c:v>
                </c:pt>
                <c:pt idx="2">
                  <c:v>20.0</c:v>
                </c:pt>
                <c:pt idx="3">
                  <c:v>10.0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Inversión vs Ahorro (USD)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Sheet1!$A$2:$A$7</c:f>
              <c:numCache>
                <c:formatCode>General</c:formatCode>
                <c:ptCount val="6"/>
                <c:pt idx="0">
                  <c:v>10.0</c:v>
                </c:pt>
                <c:pt idx="1">
                  <c:v>25.0</c:v>
                </c:pt>
                <c:pt idx="2">
                  <c:v>40.0</c:v>
                </c:pt>
                <c:pt idx="3">
                  <c:v>60.0</c:v>
                </c:pt>
                <c:pt idx="4">
                  <c:v>80.0</c:v>
                </c:pt>
                <c:pt idx="5">
                  <c:v>100.0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18.0</c:v>
                </c:pt>
                <c:pt idx="1">
                  <c:v>45.0</c:v>
                </c:pt>
                <c:pt idx="2">
                  <c:v>72.0</c:v>
                </c:pt>
                <c:pt idx="3">
                  <c:v>115.0</c:v>
                </c:pt>
                <c:pt idx="4">
                  <c:v>160.0</c:v>
                </c:pt>
                <c:pt idx="5">
                  <c:v>210.0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48840"/>
            <a:ext cx="11094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Transformación Digital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337560"/>
            <a:ext cx="110947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FFFFFF"/>
                </a:solidFill>
                <a:latin typeface="Calibri Light"/>
              </a:rPr>
              <a:t>Resultados, aprendizajes y hoja de ruta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51960"/>
            <a:ext cx="110947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 Light"/>
              </a:rP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14600"/>
            <a:ext cx="11094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Contexto y Diagnóstico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03320"/>
            <a:ext cx="110947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FFFFFF"/>
                </a:solidFill>
                <a:latin typeface="Calibri Light"/>
              </a:rPr>
              <a:t>¿De dónde venimos?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El punto de partida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7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1E1E"/>
                </a:solidFill>
                <a:latin typeface="Calibri Light"/>
              </a:rPr>
              <a:t>En 2023 el 78% de los procesos operativos eran manuales, generando una latencia promedio de 4.2 días por ciclo.</a:t>
            </a:r>
          </a:p>
        </p:txBody>
      </p:sp>
      <p:pic>
        <p:nvPicPr>
          <p:cNvPr id="4" name="Picture 3" descr="GenFilesMCP 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119" y="1691640"/>
            <a:ext cx="7913760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7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Nuestra visión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947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 Light"/>
              </a:rPr>
              <a:t>Automatización end-to-end con tiempo de ciclo menor a 6 horas para el 90% de las operaciones.</a:t>
            </a:r>
          </a:p>
        </p:txBody>
      </p:sp>
      <p:pic>
        <p:nvPicPr>
          <p:cNvPr id="4" name="Picture 3" descr="GenFilesMCP 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598" y="2331720"/>
            <a:ext cx="6816803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14600"/>
            <a:ext cx="11094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Resultados del Año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03320"/>
            <a:ext cx="110947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FFFFFF"/>
                </a:solidFill>
                <a:latin typeface="Calibri Light"/>
              </a:rPr>
              <a:t>Lo que logramos en 12 meses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7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E1E1E"/>
                </a:solidFill>
                <a:latin typeface="Calibri"/>
              </a:rPr>
              <a:t>Antes vs Después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54101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1E1E"/>
                </a:solidFill>
                <a:latin typeface="Calibri"/>
              </a:rPr>
              <a:t>Situación inicial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57400"/>
            <a:ext cx="5410199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400" b="0" i="0">
                <a:solidFill>
                  <a:srgbClr val="1E1E1E"/>
                </a:solidFill>
                <a:latin typeface="Calibri Light"/>
              </a:rPr>
              <a:t>Procesos manuales con alta dependencia de correo electrónico. Tasa de error del 12% y latencia promedio de 4.2 días por ciclo de aprobación.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999" y="1417320"/>
            <a:ext cx="0" cy="4892040"/>
          </a:xfrm>
          <a:prstGeom prst="line">
            <a:avLst/>
          </a:prstGeom>
          <a:ln w="1905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33159" y="1417320"/>
            <a:ext cx="54101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1E1E"/>
                </a:solidFill>
                <a:latin typeface="Calibri"/>
              </a:rPr>
              <a:t>Situación actual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159" y="2057400"/>
            <a:ext cx="5410199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400" b="0" i="0">
                <a:solidFill>
                  <a:srgbClr val="1E1E1E"/>
                </a:solidFill>
                <a:latin typeface="Calibri Light"/>
              </a:rPr>
              <a:t>Flujos automatizados con validación en tiempo real. Tasa de error reducida al 0.8% y latencia promedio de 5.4 horas.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7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Equipo vs Competencia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54101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Nuestro equipo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57400"/>
            <a:ext cx="5410199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400" b="0" i="0">
                <a:solidFill>
                  <a:srgbClr val="FFFFFF"/>
                </a:solidFill>
                <a:latin typeface="Calibri Light"/>
              </a:rPr>
              <a:t>NPS de 74 puntos, retención del 91%, tiempo de onboarding reducido a 3 días gracias al nuevo portal de capacitación.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5999" y="1417320"/>
            <a:ext cx="0" cy="4892040"/>
          </a:xfrm>
          <a:prstGeom prst="line">
            <a:avLst/>
          </a:prstGeom>
          <a:ln w="1905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33159" y="1417320"/>
            <a:ext cx="54101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Benchmark industria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159" y="2057400"/>
            <a:ext cx="5410199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400" b="0" i="0">
                <a:solidFill>
                  <a:srgbClr val="FFFFFF"/>
                </a:solidFill>
                <a:latin typeface="Calibri Light"/>
              </a:rPr>
              <a:t>NPS promedio sectorial de 58 puntos, retención del 76%, onboarding estándar de 12 días según reporte Gartner 2025.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14600"/>
            <a:ext cx="11094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Análisis de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03320"/>
            <a:ext cx="110947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FFFFFF"/>
                </a:solidFill>
                <a:latin typeface="Calibri Light"/>
              </a:rPr>
              <a:t>Métricas y tendencias clave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7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E1E1E"/>
                </a:solidFill>
                <a:latin typeface="Calibri"/>
              </a:rPr>
              <a:t>Evolución de ventas por trimestre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1019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0" i="0">
                <a:solidFill>
                  <a:srgbClr val="1E1E1E"/>
                </a:solidFill>
                <a:latin typeface="Calibri Light"/>
              </a:rPr>
              <a:t>El crecimiento sostenido refleja la adopción del canal digital como principal punto de contacto con el cliente.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5999" y="1371600"/>
            <a:ext cx="0" cy="4937760"/>
          </a:xfrm>
          <a:prstGeom prst="line">
            <a:avLst/>
          </a:prstGeom>
          <a:ln w="1905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33159" y="1371600"/>
          <a:ext cx="5410199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7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Distribución de canales de venta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1019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0" i="0">
                <a:solidFill>
                  <a:srgbClr val="FFFFFF"/>
                </a:solidFill>
                <a:latin typeface="Calibri Light"/>
              </a:rPr>
              <a:t>El canal web superó por primera vez al canal presencial, consolidando la estrategia omnicanal iniciada en 2024.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5999" y="1371600"/>
            <a:ext cx="0" cy="4937760"/>
          </a:xfrm>
          <a:prstGeom prst="line">
            <a:avLst/>
          </a:prstGeom>
          <a:ln w="1905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33159" y="1371600"/>
          <a:ext cx="5410199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Correlación: inversión vs retorno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5410199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0" i="0">
                <a:solidFill>
                  <a:srgbClr val="1E1E1E"/>
                </a:solidFill>
                <a:latin typeface="Calibri Light"/>
              </a:rPr>
              <a:t>Se observa correlación positiva entre inversión en automatización y reducción de costos operativos durante el periodo analizado.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5999" y="731520"/>
            <a:ext cx="0" cy="5577840"/>
          </a:xfrm>
          <a:prstGeom prst="line">
            <a:avLst/>
          </a:prstGeom>
          <a:ln w="1905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33159" y="731520"/>
          <a:ext cx="5410199" cy="5577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Indicadores de rendimiento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5410199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0" i="0">
                <a:solidFill>
                  <a:srgbClr val="1E1E1E"/>
                </a:solidFill>
                <a:latin typeface="Calibri Light"/>
              </a:rPr>
              <a:t>Resumen ejecutivo de los KPIs comprometidos para el año fiscal 2025 versus el resultado real alcanzado.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5999" y="731520"/>
            <a:ext cx="0" cy="5577840"/>
          </a:xfrm>
          <a:prstGeom prst="line">
            <a:avLst/>
          </a:prstGeom>
          <a:ln w="1905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3159" y="731520"/>
          <a:ext cx="5410199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2549"/>
                <a:gridCol w="1352549"/>
                <a:gridCol w="1352549"/>
                <a:gridCol w="1352552"/>
              </a:tblGrid>
              <a:tr h="9296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Calibri Light"/>
                        </a:rPr>
                        <a:t>Indicador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Calibri Light"/>
                        </a:rPr>
                        <a:t>Meta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Calibri Light"/>
                        </a:rPr>
                        <a:t>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Calibri Light"/>
                        </a:rPr>
                        <a:t>Δ</a:t>
                      </a:r>
                    </a:p>
                  </a:txBody>
                  <a:tcPr/>
                </a:tc>
              </a:tr>
              <a:tr h="9296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Calibri Light"/>
                        </a:rPr>
                        <a:t>Usuarios activos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Calibri Light"/>
                        </a:rPr>
                        <a:t>35,000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Calibri Light"/>
                        </a:rPr>
                        <a:t>42,800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Calibri Light"/>
                        </a:rPr>
                        <a:t>+22%</a:t>
                      </a:r>
                    </a:p>
                  </a:txBody>
                  <a:tcPr/>
                </a:tc>
              </a:tr>
              <a:tr h="9296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Calibri Light"/>
                        </a:rPr>
                        <a:t>Crecimiento MoM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Calibri Light"/>
                        </a:rPr>
                        <a:t>+12%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Calibri Light"/>
                        </a:rPr>
                        <a:t>+18%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Calibri Light"/>
                        </a:rPr>
                        <a:t>+6pp</a:t>
                      </a:r>
                    </a:p>
                  </a:txBody>
                  <a:tcPr/>
                </a:tc>
              </a:tr>
              <a:tr h="9296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Calibri Light"/>
                        </a:rPr>
                        <a:t>Tasa de retención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Calibri Light"/>
                        </a:rPr>
                        <a:t>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Calibri Light"/>
                        </a:rPr>
                        <a:t>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Calibri Light"/>
                        </a:rPr>
                        <a:t>+3pp</a:t>
                      </a:r>
                    </a:p>
                  </a:txBody>
                  <a:tcPr/>
                </a:tc>
              </a:tr>
              <a:tr h="9296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Calibri Light"/>
                        </a:rPr>
                        <a:t>NPS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Calibri Light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Calibri Light"/>
                        </a:rP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Calibri Light"/>
                        </a:rPr>
                        <a:t>+14</a:t>
                      </a:r>
                    </a:p>
                  </a:txBody>
                  <a:tcPr/>
                </a:tc>
              </a:tr>
              <a:tr h="9296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Calibri Light"/>
                        </a:rPr>
                        <a:t>Costo por transacción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Calibri Light"/>
                        </a:rPr>
                        <a:t>$4.20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Calibri Light"/>
                        </a:rPr>
                        <a:t>$2.85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Calibri Light"/>
                        </a:rPr>
                        <a:t>-32%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7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E1E1E"/>
                </a:solidFill>
                <a:latin typeface="Calibri"/>
              </a:rPr>
              <a:t>Arquitectura de la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1019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0" i="0">
                <a:solidFill>
                  <a:srgbClr val="1E1E1E"/>
                </a:solidFill>
                <a:latin typeface="Calibri Light"/>
              </a:rPr>
              <a:t>La plataforma integra tres capas independientes: ingesta de datos en tiempo real, motor de reglas de negocio y capa de presentación adaptativa.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5999" y="1371600"/>
            <a:ext cx="0" cy="4937760"/>
          </a:xfrm>
          <a:prstGeom prst="line">
            <a:avLst/>
          </a:prstGeom>
          <a:ln w="1905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GenFilesMCP 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159" y="2262040"/>
            <a:ext cx="5410199" cy="315687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Roadmap tecnológico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5410199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500" b="0" i="0">
                <a:solidFill>
                  <a:srgbClr val="FFFFFF"/>
                </a:solidFill>
                <a:latin typeface="Calibri Light"/>
              </a:rPr>
              <a:t>Las iniciativas de 2026 se centran en IA generativa aplicada a soporte al cliente y optimización predictiva de inventarios.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95999" y="731520"/>
            <a:ext cx="0" cy="5577840"/>
          </a:xfrm>
          <a:prstGeom prst="line">
            <a:avLst/>
          </a:prstGeom>
          <a:ln w="1905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GenFilesMCP 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159" y="1942000"/>
            <a:ext cx="5410199" cy="315687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14600"/>
            <a:ext cx="1109471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¡Gracias!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703320"/>
            <a:ext cx="110947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FFFFFF"/>
                </a:solidFill>
                <a:latin typeface="Calibri Light"/>
              </a:rPr>
              <a:t>Preguntas y comentarios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